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2094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564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INTERMODULAR · 2.º ASIR · 2025/2026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6400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Implantación de un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Kubernetes Local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Escalable · Monitorización en Tiempo Real · Seguridad Zero-Trust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2651760" cy="1234440"/>
          </a:xfrm>
          <a:prstGeom prst="rect">
            <a:avLst/>
          </a:prstGeom>
          <a:solidFill>
            <a:srgbClr val="111E30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65760" y="338328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75488" y="349300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Adrián Boza Suárez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385876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&amp; App Web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3383280"/>
            <a:ext cx="2651760" cy="1234440"/>
          </a:xfrm>
          <a:prstGeom prst="rect">
            <a:avLst/>
          </a:prstGeom>
          <a:solidFill>
            <a:srgbClr val="111E30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200400" y="3383280"/>
            <a:ext cx="265176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310128" y="349300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Santiago Pérez Cano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385876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3383280"/>
            <a:ext cx="2651760" cy="1234440"/>
          </a:xfrm>
          <a:prstGeom prst="rect">
            <a:avLst/>
          </a:prstGeom>
          <a:solidFill>
            <a:srgbClr val="111E30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6035040" y="3383280"/>
            <a:ext cx="26517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144768" y="349300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Sergio López Pérez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44768" y="385876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Red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4754880"/>
            <a:ext cx="713232" cy="228600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</a:rPr>
              <a:t>SRI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234440" y="4754880"/>
            <a:ext cx="713232" cy="228600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1234440" y="475488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</a:rPr>
              <a:t>SAD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03120" y="4754880"/>
            <a:ext cx="713232" cy="228600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2103120" y="475488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</a:rPr>
              <a:t>ASO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Exposición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22860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25196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54864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56616" y="9601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6616" y="12344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 Solución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08960" y="960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690872" y="913172"/>
            <a:ext cx="425196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90872" y="914400"/>
            <a:ext cx="54864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818888" y="9601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18888" y="12344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y </a:t>
            </a:r>
            <a:r>
              <a:rPr lang="en-US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Sistema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571232" y="960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874520"/>
            <a:ext cx="425196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228600" y="1874520"/>
            <a:ext cx="54864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56616" y="19202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6616" y="21945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Infraestructura y App Web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08960" y="1920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690872" y="1874520"/>
            <a:ext cx="425196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690872" y="1874520"/>
            <a:ext cx="54864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818888" y="19202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18888" y="21945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Monitorización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71232" y="1920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28600" y="2834640"/>
            <a:ext cx="425196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228600" y="2834640"/>
            <a:ext cx="54864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56616" y="2880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56616" y="31546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Seguridad Zero-Trust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08960" y="28803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90872" y="2834640"/>
            <a:ext cx="425196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4690872" y="2834640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4818888" y="2880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18888" y="31546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571232" y="28803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28600" y="3886200"/>
            <a:ext cx="868680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228600" y="3886200"/>
            <a:ext cx="54864" cy="8046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356616" y="39319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56616" y="4206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&amp; Soluciones · Módulos ASIR · Conclusiones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543800" y="3931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y Nuestra Solución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22860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60520" cy="3749040"/>
          </a:xfrm>
          <a:prstGeom prst="rect">
            <a:avLst/>
          </a:prstGeom>
          <a:solidFill>
            <a:srgbClr val="1A1025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1605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Kubernetes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794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manual → errores humanos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servidor cae, la web deja de funcionar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Nginx requiere parar el servicio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 reactiva (cuando ya falló)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reproducibilidad del entorno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62272" y="2743200"/>
            <a:ext cx="20116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407408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60520" cy="3749040"/>
          </a:xfrm>
          <a:prstGeom prst="rect">
            <a:avLst/>
          </a:prstGeom>
          <a:solidFill>
            <a:srgbClr val="0A1C14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6052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93776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Kubernetes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600200"/>
            <a:ext cx="3794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declarado en YAML → reproducible al 100%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Auto-healing: pod caído = pod recreado (&lt;60s)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updates sin downtime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en tiempo real con Prometheus + Grafana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como código versionada en Git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22860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88920" cy="1737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7889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Virtualización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 24.04 LTS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88920" cy="1737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889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37560" y="11155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4813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 err="1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</a:t>
            </a:r>
            <a:r>
              <a:rPr lang="en-US" sz="10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342900" indent="-342900">
              <a:buSzPct val="100000"/>
              <a:buChar char="•"/>
            </a:pPr>
            <a:r>
              <a:rPr lang="en-US" sz="1050" dirty="0" err="1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</a:t>
            </a:r>
            <a:r>
              <a:rPr lang="en-US" sz="10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005840"/>
            <a:ext cx="2788920" cy="1737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6172200" y="1005840"/>
            <a:ext cx="278892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309360" y="11155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4813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(latest)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en-US" sz="1050" dirty="0" err="1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réplicas</a:t>
            </a:r>
            <a:r>
              <a:rPr lang="en-US" sz="10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2971800"/>
            <a:ext cx="2788920" cy="1737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228600" y="2971800"/>
            <a:ext cx="278892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65760" y="30815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44728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788920" cy="1737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200400" y="2971800"/>
            <a:ext cx="278892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337560" y="30815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344728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NetworkPolicies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Zero-Trust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2971800"/>
            <a:ext cx="2788920" cy="1737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6172200" y="2971800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309360" y="30815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44728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YAML (IaC)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0" y="1645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22860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8778240" cy="3931920"/>
          </a:xfrm>
          <a:prstGeom prst="rect">
            <a:avLst/>
          </a:prstGeom>
          <a:solidFill>
            <a:srgbClr val="0A162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28600" y="8595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 HARDWARE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56032" y="1207023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37064" y="1234440"/>
            <a:ext cx="7952097" cy="3429000"/>
          </a:xfrm>
          <a:prstGeom prst="rect">
            <a:avLst/>
          </a:prstGeom>
          <a:solidFill>
            <a:srgbClr val="0D1E32"/>
          </a:solidFill>
          <a:ln w="1270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Text 8"/>
          <p:cNvSpPr/>
          <p:nvPr/>
        </p:nvSpPr>
        <p:spPr>
          <a:xfrm>
            <a:off x="907711" y="1243811"/>
            <a:ext cx="194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2 VM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99053" y="1527949"/>
            <a:ext cx="7089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 24.04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669866" y="1572768"/>
            <a:ext cx="6801889" cy="2788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743703" y="1545336"/>
            <a:ext cx="17604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3 KUBERNETES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743703" y="1902407"/>
            <a:ext cx="6401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Docker driver · 1 nodo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198122" y="1920240"/>
            <a:ext cx="5044530" cy="2148840"/>
          </a:xfrm>
          <a:prstGeom prst="rect">
            <a:avLst/>
          </a:prstGeom>
          <a:solidFill>
            <a:srgbClr val="081828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269333" y="1850517"/>
            <a:ext cx="15257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4 APLICACIONES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891760" y="2404872"/>
            <a:ext cx="554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214367" y="2161413"/>
            <a:ext cx="1277956" cy="1691640"/>
          </a:xfrm>
          <a:prstGeom prst="rect">
            <a:avLst/>
          </a:prstGeom>
          <a:solidFill>
            <a:srgbClr val="111E30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214366" y="2161413"/>
            <a:ext cx="127795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260807" y="2252853"/>
            <a:ext cx="1166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nginx-web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52356" y="2545461"/>
            <a:ext cx="1166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réplicas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30000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localhost:8080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567247" y="2157984"/>
            <a:ext cx="1163771" cy="1691640"/>
          </a:xfrm>
          <a:prstGeom prst="rect">
            <a:avLst/>
          </a:prstGeom>
          <a:solidFill>
            <a:srgbClr val="111E30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5567247" y="2157984"/>
            <a:ext cx="1163771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596823" y="2249424"/>
            <a:ext cx="1060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02305" y="2546699"/>
            <a:ext cx="10698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réplica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31000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localhost:9090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05612" y="2148840"/>
            <a:ext cx="1195387" cy="1691640"/>
          </a:xfrm>
          <a:prstGeom prst="rect">
            <a:avLst/>
          </a:prstGeom>
          <a:solidFill>
            <a:srgbClr val="111E30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6805612" y="2148840"/>
            <a:ext cx="1195387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851936" y="2240280"/>
            <a:ext cx="10891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33648" y="2532888"/>
            <a:ext cx="108913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réplica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32000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localhost:3000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Infraestructura y Aplicación Web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0" y="1645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Adrián Boza · 2 min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22860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3840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Clave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Nginx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réplicas · imagen nginx:latest · resources: 128Mi RAM / 250m CPU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249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4963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livenessProbe HTTP GET / cada 10s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readinessProbe HTTP GET / cada 5s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0540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NodePort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3009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 → NodePort 30000 → localhost:8080 (NAT VirtualBox)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858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41056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ReplicaSet garantiza siempre 2 pods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Auto-healing en &lt; 60 segundos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4251960" cy="1783080"/>
          </a:xfrm>
          <a:prstGeom prst="rect">
            <a:avLst/>
          </a:prstGeom>
          <a:solidFill>
            <a:srgbClr val="081828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2519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754880" y="107899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img/03-nginx-deployment.png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1417320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nginx-web-xxx   1/1   Running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nginx-web-yyy   1/1   Running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880360"/>
            <a:ext cx="4251960" cy="1920240"/>
          </a:xfrm>
          <a:prstGeom prst="rect">
            <a:avLst/>
          </a:prstGeom>
          <a:solidFill>
            <a:srgbClr val="081828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663440" y="2880360"/>
            <a:ext cx="42519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754880" y="29992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img/04-nginx-browser.png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331012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respondiendo 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http://localhost:8080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9319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nginx!</a:t>
            </a:r>
            <a:endParaRPr lang="en-US" sz="13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A6C166D-1BE6-10F0-09C7-64A58A6A0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14984"/>
            <a:ext cx="4251960" cy="17849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27D025B-E229-C15A-4618-C30A1979E1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0420"/>
          <a:stretch>
            <a:fillRect/>
          </a:stretch>
        </p:blipFill>
        <p:spPr>
          <a:xfrm>
            <a:off x="4663440" y="2930652"/>
            <a:ext cx="4251960" cy="18463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Monitorización con Prometheus + Grafana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0" y="1645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Santiago Pérez · 2 min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22860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28600" y="987552"/>
            <a:ext cx="4206240" cy="1920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42062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444752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ServiceAccount + ClusterRole + ClusterRoleBinding para acceso a la API de Kubernetes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Auto-descubrimiento de pods con anotación prometheus.io/scrape=true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cAdvisor para métricas de nodo (CPU, RAM, red)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31000 → localhost:9090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3035808"/>
            <a:ext cx="4206240" cy="1783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8600" y="3035808"/>
            <a:ext cx="42062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11480" y="31455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4930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Datasource: http://prometheus:9090 (resolución DNS interna)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importado: Prometheus 2.0 Overview (ID 3662)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CPU, RAM, red, uptime, targets scraping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32000 → localhost:3000 · Credenciales: admin/admin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987552"/>
            <a:ext cx="4251960" cy="1325880"/>
          </a:xfrm>
          <a:prstGeom prst="rect">
            <a:avLst/>
          </a:prstGeom>
          <a:solidFill>
            <a:srgbClr val="081828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754880" y="104241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img/05-prometheus-targets.png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0" y="135331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UP (verde) en localhost:9090/targets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441448"/>
            <a:ext cx="4251960" cy="1325880"/>
          </a:xfrm>
          <a:prstGeom prst="rect">
            <a:avLst/>
          </a:prstGeom>
          <a:solidFill>
            <a:srgbClr val="081828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754880" y="249631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img/06-grafana-datasource.png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0" y="280720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 source is working" — Grafana conectado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3895344"/>
            <a:ext cx="4251960" cy="868680"/>
          </a:xfrm>
          <a:prstGeom prst="rect">
            <a:avLst/>
          </a:prstGeom>
          <a:solidFill>
            <a:srgbClr val="081828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754880" y="395020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img/07-grafana-dashboard.png  |  07.2  |  07.3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0" y="422452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métricas en tiempo real</a:t>
            </a:r>
            <a:endParaRPr lang="en-US" sz="9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ACDF0DE-14B7-C3F5-4E8B-1F036F6036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911"/>
          <a:stretch>
            <a:fillRect/>
          </a:stretch>
        </p:blipFill>
        <p:spPr>
          <a:xfrm>
            <a:off x="4661894" y="983156"/>
            <a:ext cx="4251960" cy="133477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3747CF7-4C55-DA44-C4CD-FAC05FCBBF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1857"/>
          <a:stretch>
            <a:fillRect/>
          </a:stretch>
        </p:blipFill>
        <p:spPr>
          <a:xfrm>
            <a:off x="4663440" y="2445345"/>
            <a:ext cx="4251960" cy="132577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B483121-8518-4B01-C752-832F8E12D7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894" y="3824292"/>
            <a:ext cx="4291037" cy="1154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Seguridad Zero-Trust con NetworkPolicies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0" y="1645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Sergio López · 2 min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22860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28600" y="9144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Zero-Trust: todo bloqueado por defecto · solo se permite el tráfico explícitamente autorizado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1298448"/>
            <a:ext cx="425196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228600" y="1298448"/>
            <a:ext cx="54864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65760" y="13533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default-deny-all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TODO el tráfico Ingress y Egress en todos los pods del namespace. Base del modelo zero-trust.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90872" y="1298448"/>
            <a:ext cx="425196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690872" y="1298448"/>
            <a:ext cx="54864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828032" y="13533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allow-nginx-web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28032" y="1645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tráfico entrante TCP:80 a los pods con label app=nginx-web. from: [] = cualquier origen.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2212848"/>
            <a:ext cx="425196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228600" y="2212848"/>
            <a:ext cx="54864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65760" y="22677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allow-monitoring-ingress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560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tráfico entrante a Prometheus (TCP:9090) y Grafana (TCP:3000).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90872" y="2212848"/>
            <a:ext cx="425196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690872" y="2212848"/>
            <a:ext cx="54864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828032" y="22677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allow-prometheus-scrape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28032" y="2560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que app=prometheus inicie conexiones salientes TCP:80 a app=nginx-web para recoger métricas.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3154680"/>
            <a:ext cx="86868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228600" y="3154680"/>
            <a:ext cx="54864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65760" y="32095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allow-dns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502152"/>
            <a:ext cx="8366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tráfico DNS saliente (UDP+TCP:53) desde cualquier pod. Sin esto los pods no resuelven nombres.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1330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img/09-networkpolicy-list.png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43525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networkpolicies → 5 políticas aplicadas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FF283AD-49BF-0EAC-5DE8-6A361E6B2D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9" b="9835"/>
          <a:stretch>
            <a:fillRect/>
          </a:stretch>
        </p:blipFill>
        <p:spPr>
          <a:xfrm>
            <a:off x="228600" y="3995928"/>
            <a:ext cx="2912386" cy="101800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26A44C4-2C16-1E7C-F5D4-A779FFC48C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2" b="8021"/>
          <a:stretch>
            <a:fillRect/>
          </a:stretch>
        </p:blipFill>
        <p:spPr>
          <a:xfrm>
            <a:off x="3205700" y="3982665"/>
            <a:ext cx="2912386" cy="103211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B81E6CF-A76E-0EE6-71B6-1980B3326A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5911"/>
          <a:stretch>
            <a:fillRect/>
          </a:stretch>
        </p:blipFill>
        <p:spPr>
          <a:xfrm>
            <a:off x="6270555" y="3995928"/>
            <a:ext cx="2644845" cy="10282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810"/>
          </a:solidFill>
          <a:ln w="12700">
            <a:solidFill>
              <a:srgbClr val="05181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kern="0" spc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VIVO</a:t>
            </a:r>
            <a:endParaRPr lang="en-US" sz="5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Encontrados y Soluciones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22860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18872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01752" y="960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508760" y="960120"/>
            <a:ext cx="356616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581912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166360" y="960120"/>
            <a:ext cx="374904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239512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1261872"/>
            <a:ext cx="8686800" cy="548640"/>
          </a:xfrm>
          <a:prstGeom prst="rect">
            <a:avLst/>
          </a:prstGeom>
          <a:solidFill>
            <a:srgbClr val="0D1E32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56032" y="1371600"/>
            <a:ext cx="1051560" cy="237744"/>
          </a:xfrm>
          <a:prstGeom prst="rect">
            <a:avLst/>
          </a:prstGeom>
          <a:solidFill>
            <a:srgbClr val="0891B2">
              <a:alpha val="35000"/>
            </a:srgbClr>
          </a:solidFill>
          <a:ln w="12700">
            <a:solidFill>
              <a:srgbClr val="0891B2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56032" y="13716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Adrián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130759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no arrancaba (RAM insuficiente)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66360" y="130759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a 2 GB con --memory=2048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874520"/>
            <a:ext cx="868680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56032" y="1984248"/>
            <a:ext cx="1051560" cy="237744"/>
          </a:xfrm>
          <a:prstGeom prst="rect">
            <a:avLst/>
          </a:prstGeom>
          <a:solidFill>
            <a:srgbClr val="14B8A6">
              <a:alpha val="35000"/>
            </a:srgbClr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256032" y="198424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Santiago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508760" y="192024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no scrapeaba Nginx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66360" y="1920240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 bloqueaba tráfico → añadir allow-prometheus-scrape con Egress TCP:80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487168"/>
            <a:ext cx="8686800" cy="548640"/>
          </a:xfrm>
          <a:prstGeom prst="rect">
            <a:avLst/>
          </a:prstGeom>
          <a:solidFill>
            <a:srgbClr val="0D1E32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256032" y="2596896"/>
            <a:ext cx="1051560" cy="237744"/>
          </a:xfrm>
          <a:prstGeom prst="rect">
            <a:avLst/>
          </a:prstGeom>
          <a:solidFill>
            <a:srgbClr val="F97316">
              <a:alpha val="35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256032" y="259689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508760" y="253288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 -f manifests/ daba error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66360" y="253288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Faltaba flag -R para subdirectorios → kubectl apply -R -f manifests/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3099816"/>
            <a:ext cx="868680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256032" y="3209544"/>
            <a:ext cx="1051560" cy="237744"/>
          </a:xfrm>
          <a:prstGeom prst="rect">
            <a:avLst/>
          </a:prstGeom>
          <a:solidFill>
            <a:srgbClr val="94A3B8">
              <a:alpha val="35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256032" y="320954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508760" y="314553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ERR_CONNECTION_REFUSED en navegador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66360" y="314553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de VirtualBox no configurado → configurar reenvío de puertos anfitrión/invitado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3712464"/>
            <a:ext cx="8686800" cy="548640"/>
          </a:xfrm>
          <a:prstGeom prst="rect">
            <a:avLst/>
          </a:prstGeom>
          <a:solidFill>
            <a:srgbClr val="0D1E32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256032" y="3822192"/>
            <a:ext cx="1051560" cy="237744"/>
          </a:xfrm>
          <a:prstGeom prst="rect">
            <a:avLst/>
          </a:prstGeom>
          <a:solidFill>
            <a:srgbClr val="14B8A6">
              <a:alpha val="35000"/>
            </a:srgbClr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256032" y="38221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Santiago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508760" y="375818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Grafana sin datos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66360" y="3758184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3662 usa métricas internas de Prometheus → verificar con query 'up' en Explore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4325112"/>
            <a:ext cx="868680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256032" y="4434840"/>
            <a:ext cx="1051560" cy="237744"/>
          </a:xfrm>
          <a:prstGeom prst="rect">
            <a:avLst/>
          </a:prstGeom>
          <a:solidFill>
            <a:srgbClr val="0891B2">
              <a:alpha val="35000"/>
            </a:srgbClr>
          </a:solidFill>
          <a:ln w="12700">
            <a:solidFill>
              <a:srgbClr val="0891B2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256032" y="44348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Adrián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508760" y="437083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en estado Pending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66360" y="437083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insuficientes → kubectl describe pod → ajustar resource limits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los Módulos de ASIR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22860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2788920" cy="3840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28600" y="987552"/>
            <a:ext cx="27889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502920" cy="320040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1115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Red e Internet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— Servicios de Red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7556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NodePort en Kubernetes para exponer Nginx, Prometheus y Grafana.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3317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— Servicios Web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5786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Implantación de Nginx contenerizado con health checks HTTP.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RA4 — Alta Disponibilidad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4015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réplicas Nginx con auto-recuperación via ReplicaSet y probes.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0" y="987552"/>
            <a:ext cx="2788920" cy="3840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3200400" y="987552"/>
            <a:ext cx="2788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291840" y="1097280"/>
            <a:ext cx="502920" cy="320040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291840" y="10972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67912" y="1115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Alta Disponibilidad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37560" y="15087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— Seguridad en Redes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17556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NetworkPolicies para aislamiento zero-trust de tráfico entre pods.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37560" y="23317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— Continuidad del Negocio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7560" y="25786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 con self-healing y servicio sin interrupción ante fallos.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37560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RA5 — Recuperación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7560" y="34015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recrea pods automáticamente sin intervención manual.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72200" y="987552"/>
            <a:ext cx="2788920" cy="3840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6172200" y="987552"/>
            <a:ext cx="278892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6263640" y="1097280"/>
            <a:ext cx="502920" cy="320040"/>
          </a:xfrm>
          <a:prstGeom prst="rect">
            <a:avLst/>
          </a:prstGeom>
          <a:solidFill>
            <a:srgbClr val="14B8A6">
              <a:alpha val="45000"/>
            </a:srgbClr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263640" y="10972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39712" y="1115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Sistemas Operativos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09360" y="15087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— Gestión de Recursos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17556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 CPU/RAM con Prometheus+Grafana. Límites por pod: 128Mi/250m.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09360" y="23317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RA4 — Virtualización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9360" y="25786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 + Minikube dentro de VM VirtualBox.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09360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RA6 — Automatización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34015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como código: manifiestos YAML declarativos versionados en Git.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Mejoras Futuras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22860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8686800" cy="3794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28600" y="987552"/>
            <a:ext cx="86868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84047" y="1097280"/>
            <a:ext cx="7897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Alcanzados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463040"/>
            <a:ext cx="7991104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Kubernetes funcional ejecutado en un portátil con recursos limitados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 demostrada: auto-healing en &lt; 60 segundos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 completa: métricas en tiempo real con Prometheus + Grafana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zero-trust: 5 NetworkPolicies, todo denegado por defecto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E2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como código: manifiestos YAML 100% reproducibles en Git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Implantación de un Entorno Kubernetes Local con App Web Escalable y Monitoreo en Tiempo Real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Adrián Boza Suárez  ·  Santiago Pérez Cano  ·  Sergio López Pérez  ·  2.º ASIR 2025/2026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1056</Words>
  <Application>Microsoft Office PowerPoint</Application>
  <PresentationFormat>On-screen Show (16:9)</PresentationFormat>
  <Paragraphs>211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ASIR — Proyecto Intermodular</dc:title>
  <dc:subject>PptxGenJS Presentation</dc:subject>
  <dc:creator>Adrián Boza, Santiago Pérez, Sergio López</dc:creator>
  <cp:lastModifiedBy>Adrian Boza Suárez</cp:lastModifiedBy>
  <cp:revision>2</cp:revision>
  <dcterms:created xsi:type="dcterms:W3CDTF">2026-05-25T19:01:16Z</dcterms:created>
  <dcterms:modified xsi:type="dcterms:W3CDTF">2026-05-25T19:42:35Z</dcterms:modified>
</cp:coreProperties>
</file>